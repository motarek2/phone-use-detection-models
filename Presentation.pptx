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Bebas Neu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2683EB-4407-41BD-BB5F-606BD397318F}">
  <a:tblStyle styleId="{F92683EB-4407-41BD-BB5F-606BD39731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ebasNeue-regular.fntdata"/><Relationship Id="rId25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179de29faa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179de29faa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17ab91d938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17ab91d938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396eda698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396eda698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4dda1946d_4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4dda1946d_4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96eda698_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396eda698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396eda698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396eda698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396eda698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396eda698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396eda698_4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396eda698_4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96eda698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396eda698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96eda698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396eda698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396eda698_4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396eda698_4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179de29fa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179de29fa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396eda698_4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396eda698_4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96eda698_4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396eda698_4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96eda698_4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396eda698_4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96eda698_4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396eda698_4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56713"/>
            <a:ext cx="7518600" cy="24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61098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8287200" y="0"/>
            <a:ext cx="856800" cy="209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20000" y="241440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20000" y="1601375"/>
            <a:ext cx="9009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20000" y="3167125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0000" y="1504700"/>
            <a:ext cx="77040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naheim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 rot="5400000">
            <a:off x="-2131350" y="2050000"/>
            <a:ext cx="4572000" cy="309300"/>
          </a:xfrm>
          <a:prstGeom prst="rect">
            <a:avLst/>
          </a:prstGeom>
          <a:solidFill>
            <a:srgbClr val="4A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5055279" y="2389551"/>
            <a:ext cx="25056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1583300" y="2389551"/>
            <a:ext cx="25056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5055275" y="20815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1583300" y="20815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720000" y="388300"/>
            <a:ext cx="7704000" cy="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8" name="Google Shape;28;p6"/>
          <p:cNvSpPr/>
          <p:nvPr/>
        </p:nvSpPr>
        <p:spPr>
          <a:xfrm rot="5400000">
            <a:off x="-2131350" y="2131350"/>
            <a:ext cx="4572000" cy="309300"/>
          </a:xfrm>
          <a:prstGeom prst="rect">
            <a:avLst/>
          </a:prstGeom>
          <a:solidFill>
            <a:srgbClr val="4A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716550" y="53950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subTitle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2" name="Google Shape;32;p7"/>
          <p:cNvSpPr/>
          <p:nvPr>
            <p:ph idx="2" type="pic"/>
          </p:nvPr>
        </p:nvSpPr>
        <p:spPr>
          <a:xfrm>
            <a:off x="5662850" y="832225"/>
            <a:ext cx="2966100" cy="326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5046401" y="1587400"/>
            <a:ext cx="3384300" cy="28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subTitle"/>
          </p:nvPr>
        </p:nvSpPr>
        <p:spPr>
          <a:xfrm>
            <a:off x="713450" y="1587400"/>
            <a:ext cx="3384300" cy="28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720000" y="388300"/>
            <a:ext cx="7704000" cy="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7" name="Google Shape;47;p13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rgbClr val="003B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3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rgbClr val="4A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720000" y="388300"/>
            <a:ext cx="7704000" cy="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" name="Google Shape;51;p14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rgbClr val="4A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50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"/>
              <a:buNone/>
              <a:defRPr b="1" sz="24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713225" y="1056713"/>
            <a:ext cx="7518600" cy="243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 or No Phone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713225" y="3610988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pre-trained CNN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720000" y="1504700"/>
            <a:ext cx="77040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</a:rPr>
              <a:t>More people are distracted while </a:t>
            </a:r>
            <a:r>
              <a:rPr lang="en" sz="2000">
                <a:solidFill>
                  <a:schemeClr val="dk1"/>
                </a:solidFill>
              </a:rPr>
              <a:t>driving</a:t>
            </a:r>
            <a:r>
              <a:rPr lang="en" sz="2000">
                <a:solidFill>
                  <a:schemeClr val="dk1"/>
                </a:solidFill>
              </a:rPr>
              <a:t> due to using phone be it calling or texting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</a:rPr>
              <a:t>Roads are more dangerous because of that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</a:t>
            </a:r>
            <a:endParaRPr/>
          </a:p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720000" y="1504700"/>
            <a:ext cx="77040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●"/>
            </a:pPr>
            <a:r>
              <a:rPr lang="en" sz="2000">
                <a:solidFill>
                  <a:schemeClr val="dk1"/>
                </a:solidFill>
              </a:rPr>
              <a:t>Train </a:t>
            </a:r>
            <a:r>
              <a:rPr lang="en" sz="2000">
                <a:solidFill>
                  <a:schemeClr val="dk1"/>
                </a:solidFill>
              </a:rPr>
              <a:t>slightly</a:t>
            </a:r>
            <a:r>
              <a:rPr lang="en" sz="2000">
                <a:solidFill>
                  <a:schemeClr val="dk1"/>
                </a:solidFill>
              </a:rPr>
              <a:t> lighter weight models so that cameras can be equipped with the tools to detect 3 types of drivers 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Safe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Texting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Calling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idx="4294967295" type="ctrTitle"/>
          </p:nvPr>
        </p:nvSpPr>
        <p:spPr>
          <a:xfrm>
            <a:off x="812700" y="1669744"/>
            <a:ext cx="75186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Transfer Learning </a:t>
            </a: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/>
              <a:t>Transfer Learning 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720000" y="1504700"/>
            <a:ext cx="35442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Using pre-trained model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Freezing layers with weights believe to be </a:t>
            </a:r>
            <a:r>
              <a:rPr lang="en" sz="2000">
                <a:solidFill>
                  <a:schemeClr val="dk1"/>
                </a:solidFill>
              </a:rPr>
              <a:t>essential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Unfreezing layers to be trained </a:t>
            </a:r>
            <a:r>
              <a:rPr lang="en" sz="2000">
                <a:solidFill>
                  <a:schemeClr val="dk1"/>
                </a:solidFill>
              </a:rPr>
              <a:t>  </a:t>
            </a:r>
            <a:endParaRPr b="1" sz="4800">
              <a:solidFill>
                <a:schemeClr val="accent1"/>
              </a:solidFill>
            </a:endParaRPr>
          </a:p>
          <a:p>
            <a:pPr indent="0" lvl="0" marL="18288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81" name="Google Shape;8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0025" y="1504700"/>
            <a:ext cx="4669901" cy="29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idx="4294967295" type="ctrTitle"/>
          </p:nvPr>
        </p:nvSpPr>
        <p:spPr>
          <a:xfrm>
            <a:off x="812700" y="1669744"/>
            <a:ext cx="75186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MobileNet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MobileNet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720000" y="1504700"/>
            <a:ext cx="35442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Fast and lightweight 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Depthwise </a:t>
            </a:r>
            <a:r>
              <a:rPr lang="en" sz="2000">
                <a:solidFill>
                  <a:schemeClr val="dk1"/>
                </a:solidFill>
              </a:rPr>
              <a:t>convolution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 Pointwise </a:t>
            </a:r>
            <a:r>
              <a:rPr lang="en" sz="2000">
                <a:solidFill>
                  <a:schemeClr val="dk1"/>
                </a:solidFill>
              </a:rPr>
              <a:t>convolution 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b="1" sz="4800">
              <a:solidFill>
                <a:schemeClr val="accent1"/>
              </a:solidFill>
            </a:endParaRPr>
          </a:p>
          <a:p>
            <a:pPr indent="0" lvl="0" marL="18288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3" name="Google Shape;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7425" y="1504700"/>
            <a:ext cx="4575000" cy="28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MobileNet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720000" y="1504700"/>
            <a:ext cx="35442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How did V2 </a:t>
            </a:r>
            <a:r>
              <a:rPr lang="en" sz="2000">
                <a:solidFill>
                  <a:schemeClr val="dk1"/>
                </a:solidFill>
              </a:rPr>
              <a:t>Improve?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Expansion</a:t>
            </a:r>
            <a:r>
              <a:rPr lang="en" sz="2000">
                <a:solidFill>
                  <a:schemeClr val="dk1"/>
                </a:solidFill>
              </a:rPr>
              <a:t> layer 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Residual connection </a:t>
            </a:r>
            <a:endParaRPr b="1" sz="4800">
              <a:solidFill>
                <a:schemeClr val="accent1"/>
              </a:solidFill>
            </a:endParaRPr>
          </a:p>
          <a:p>
            <a:pPr indent="0" lvl="0" marL="18288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0275" y="1786089"/>
            <a:ext cx="4161426" cy="15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MobileNet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720000" y="1504700"/>
            <a:ext cx="35442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How did V2 Improve? 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Expansion layer </a:t>
            </a: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>
                <a:solidFill>
                  <a:schemeClr val="dk1"/>
                </a:solidFill>
              </a:rPr>
              <a:t>Residual connection </a:t>
            </a:r>
            <a:endParaRPr b="1" sz="4800">
              <a:solidFill>
                <a:schemeClr val="accent1"/>
              </a:solidFill>
            </a:endParaRPr>
          </a:p>
          <a:p>
            <a:pPr indent="0" lvl="0" marL="182880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0275" y="1786089"/>
            <a:ext cx="4161426" cy="157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4294967295" type="ctrTitle"/>
          </p:nvPr>
        </p:nvSpPr>
        <p:spPr>
          <a:xfrm>
            <a:off x="812700" y="1669744"/>
            <a:ext cx="75186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EfficientNet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idx="4294967295" type="ctrTitle"/>
          </p:nvPr>
        </p:nvSpPr>
        <p:spPr>
          <a:xfrm>
            <a:off x="812700" y="121723"/>
            <a:ext cx="7518600" cy="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How to scale up?</a:t>
            </a:r>
            <a:endParaRPr sz="4800"/>
          </a:p>
        </p:txBody>
      </p:sp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50" y="1062569"/>
            <a:ext cx="8073689" cy="3404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/>
              <a:t>EfficientNet</a:t>
            </a:r>
            <a:endParaRPr/>
          </a:p>
        </p:txBody>
      </p:sp>
      <p:sp>
        <p:nvSpPr>
          <p:cNvPr id="124" name="Google Shape;124;p26"/>
          <p:cNvSpPr txBox="1"/>
          <p:nvPr>
            <p:ph idx="4294967295" type="body"/>
          </p:nvPr>
        </p:nvSpPr>
        <p:spPr>
          <a:xfrm>
            <a:off x="720000" y="1504700"/>
            <a:ext cx="59559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/>
              <a:t>Scales up in a specific way called </a:t>
            </a:r>
            <a:r>
              <a:rPr lang="en" sz="2000"/>
              <a:t>compound</a:t>
            </a:r>
            <a:r>
              <a:rPr lang="en" sz="2000"/>
              <a:t> scaling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/>
              <a:t>Uses similar ideas called too MobileNet V2 to maintain a </a:t>
            </a:r>
            <a:r>
              <a:rPr lang="en" sz="2000"/>
              <a:t>efficiency</a:t>
            </a:r>
            <a:r>
              <a:rPr lang="en" sz="2000"/>
              <a:t> </a:t>
            </a:r>
            <a:r>
              <a:rPr b="1" lang="en" sz="4800">
                <a:solidFill>
                  <a:schemeClr val="accent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5" name="Google Shape;1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3725" y="1389400"/>
            <a:ext cx="2163300" cy="2922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idx="4294967295" type="ctrTitle"/>
          </p:nvPr>
        </p:nvSpPr>
        <p:spPr>
          <a:xfrm>
            <a:off x="869925" y="138869"/>
            <a:ext cx="75186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Comparison</a:t>
            </a:r>
            <a:endParaRPr sz="4800"/>
          </a:p>
        </p:txBody>
      </p:sp>
      <p:graphicFrame>
        <p:nvGraphicFramePr>
          <p:cNvPr id="131" name="Google Shape;131;p27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{F92683EB-4407-41BD-BB5F-606BD397318F}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Topic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MobileNet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EfficentNet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Small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Less fast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Less accurate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Accurate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Handling Issues</a:t>
            </a:r>
            <a:endParaRPr/>
          </a:p>
        </p:txBody>
      </p:sp>
      <p:sp>
        <p:nvSpPr>
          <p:cNvPr id="137" name="Google Shape;137;p28"/>
          <p:cNvSpPr txBox="1"/>
          <p:nvPr>
            <p:ph idx="4294967295" type="body"/>
          </p:nvPr>
        </p:nvSpPr>
        <p:spPr>
          <a:xfrm>
            <a:off x="720000" y="1504700"/>
            <a:ext cx="75039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/>
              <a:t>Splitting</a:t>
            </a:r>
            <a:r>
              <a:rPr lang="en" sz="2000"/>
              <a:t> dataset by drivers to prevent leakage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/>
              <a:t>Augmentation to prevent overfitting  </a:t>
            </a:r>
            <a:r>
              <a:rPr b="1" lang="en" sz="4800">
                <a:solidFill>
                  <a:schemeClr val="accent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type="title"/>
          </p:nvPr>
        </p:nvSpPr>
        <p:spPr>
          <a:xfrm>
            <a:off x="720000" y="384050"/>
            <a:ext cx="7704000" cy="7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Results</a:t>
            </a:r>
            <a:endParaRPr/>
          </a:p>
        </p:txBody>
      </p:sp>
      <p:sp>
        <p:nvSpPr>
          <p:cNvPr id="143" name="Google Shape;143;p29"/>
          <p:cNvSpPr txBox="1"/>
          <p:nvPr>
            <p:ph idx="4294967295" type="body"/>
          </p:nvPr>
        </p:nvSpPr>
        <p:spPr>
          <a:xfrm>
            <a:off x="720000" y="1504700"/>
            <a:ext cx="7503900" cy="31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/>
              <a:t>On the validation test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MobileNet model achieved 92% top accuracy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lang="en" sz="2000"/>
              <a:t>On our custom test </a:t>
            </a:r>
            <a:endParaRPr sz="20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sz="2000"/>
              <a:t>MobileNet model achieved 82% accuracy (9/11 correct classification in real world)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idx="4294967295" type="ctrTitle"/>
          </p:nvPr>
        </p:nvSpPr>
        <p:spPr>
          <a:xfrm>
            <a:off x="869925" y="138869"/>
            <a:ext cx="7518600" cy="13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Contributions</a:t>
            </a:r>
            <a:endParaRPr sz="4800"/>
          </a:p>
        </p:txBody>
      </p:sp>
      <p:graphicFrame>
        <p:nvGraphicFramePr>
          <p:cNvPr id="149" name="Google Shape;149;p3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{F92683EB-4407-41BD-BB5F-606BD397318F}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Moaaz Saleh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23-101263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MobileNet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Mohamed Tarek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23-101248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MobileNet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Hana Medhat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23-101222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EfficientNet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Farah Sultan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23-101224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EfficientNet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 Management Consulting Toolkit Infographics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